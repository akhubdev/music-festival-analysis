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3432" cy="6858000"/>
          </a:xfrm>
          <a:prstGeom prst="rect">
            <a:avLst/>
          </a:prstGeom>
          <a:solidFill>
            <a:srgbClr val="0B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6858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200" b="1">
                <a:solidFill>
                  <a:srgbClr val="F5F8FC"/>
                </a:solidFill>
                <a:latin typeface="Aptos"/>
              </a:rPr>
              <a:t>MUSIC FESTIVAL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5648"/>
            <a:ext cx="685800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800" b="1">
                <a:solidFill>
                  <a:srgbClr val="1C91EB"/>
                </a:solidFill>
                <a:latin typeface="Aptos"/>
              </a:rPr>
              <a:t>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514600"/>
            <a:ext cx="621792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46CDFF"/>
                </a:solidFill>
                <a:latin typeface="Aptos"/>
              </a:rPr>
              <a:t>Excel + Power BI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35808"/>
            <a:ext cx="694944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BECADA"/>
                </a:solidFill>
                <a:latin typeface="Aptos"/>
              </a:rPr>
              <a:t>Festival Attendance, Revenue &amp; Audience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886200"/>
            <a:ext cx="6400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8797AC"/>
                </a:solidFill>
                <a:latin typeface="Aptos"/>
              </a:rPr>
              <a:t>A practical end-to-end Data Analyst case study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892040"/>
            <a:ext cx="4023360" cy="658368"/>
          </a:xfrm>
          <a:prstGeom prst="roundRect">
            <a:avLst/>
          </a:prstGeom>
          <a:solidFill>
            <a:srgbClr val="0E1D31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074920"/>
            <a:ext cx="3566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Prepared by Akash 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989320"/>
            <a:ext cx="6858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BECADA"/>
                </a:solidFill>
                <a:latin typeface="Aptos"/>
              </a:rPr>
              <a:t>Excel • Power BI • DAX • Business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797A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"/>
              </a:rPr>
              <a:t>1. Business Requirement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914400" cy="41148"/>
          </a:xfrm>
          <a:prstGeom prst="rect">
            <a:avLst/>
          </a:prstGeom>
          <a:solidFill>
            <a:srgbClr val="1C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BECADA"/>
                </a:solidFill>
                <a:latin typeface="Aptos"/>
              </a:rPr>
              <a:t>What the analysis was designed to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12820" y="1554480"/>
            <a:ext cx="7185262" cy="4526280"/>
          </a:xfrm>
          <a:prstGeom prst="rect">
            <a:avLst/>
          </a:prstGeom>
          <a:solidFill>
            <a:srgbClr val="121F35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1" y="1837944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 dirty="0">
                <a:solidFill>
                  <a:srgbClr val="1C91EB"/>
                </a:solidFill>
                <a:latin typeface="Aptos"/>
              </a:rPr>
              <a:t>Business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1" y="2331720"/>
            <a:ext cx="7132320" cy="1672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F5F8FC"/>
                </a:solidFill>
                <a:latin typeface="Aptos"/>
              </a:defRPr>
            </a:pPr>
            <a:r>
              <a:rPr dirty="0"/>
              <a:t>• Where is festival demand highest by month and city?</a:t>
            </a:r>
          </a:p>
          <a:p>
            <a:pPr>
              <a:spcAft>
                <a:spcPts val="800"/>
              </a:spcAft>
              <a:defRPr sz="1520">
                <a:solidFill>
                  <a:srgbClr val="F5F8FC"/>
                </a:solidFill>
                <a:latin typeface="Aptos"/>
              </a:defRPr>
            </a:pPr>
            <a:r>
              <a:rPr dirty="0"/>
              <a:t>• Which ticket-price ranges balance attendance and revenue?</a:t>
            </a:r>
          </a:p>
          <a:p>
            <a:pPr>
              <a:spcAft>
                <a:spcPts val="800"/>
              </a:spcAft>
              <a:defRPr sz="1520">
                <a:solidFill>
                  <a:srgbClr val="F5F8FC"/>
                </a:solidFill>
                <a:latin typeface="Aptos"/>
              </a:defRPr>
            </a:pPr>
            <a:r>
              <a:rPr dirty="0"/>
              <a:t>• How much attendance is associated with local vs international</a:t>
            </a:r>
            <a:r>
              <a:rPr lang="en-IN" dirty="0"/>
              <a:t> </a:t>
            </a:r>
            <a:r>
              <a:rPr dirty="0"/>
              <a:t>headliners?</a:t>
            </a:r>
          </a:p>
          <a:p>
            <a:pPr>
              <a:spcAft>
                <a:spcPts val="800"/>
              </a:spcAft>
              <a:defRPr sz="1520">
                <a:solidFill>
                  <a:srgbClr val="F5F8FC"/>
                </a:solidFill>
                <a:latin typeface="Aptos"/>
              </a:defRPr>
            </a:pPr>
            <a:r>
              <a:rPr dirty="0"/>
              <a:t>• What are the major revenue contributors:</a:t>
            </a:r>
            <a:r>
              <a:rPr lang="en-IN" dirty="0"/>
              <a:t> </a:t>
            </a:r>
            <a:r>
              <a:rPr dirty="0"/>
              <a:t>tickets, sponsorship and</a:t>
            </a:r>
            <a:r>
              <a:rPr lang="en-IN" dirty="0"/>
              <a:t> </a:t>
            </a:r>
            <a:r>
              <a:rPr dirty="0"/>
              <a:t>merchandise?</a:t>
            </a:r>
          </a:p>
          <a:p>
            <a:pPr>
              <a:spcAft>
                <a:spcPts val="800"/>
              </a:spcAft>
              <a:defRPr sz="1520">
                <a:solidFill>
                  <a:srgbClr val="F5F8FC"/>
                </a:solidFill>
                <a:latin typeface="Aptos"/>
              </a:defRPr>
            </a:pPr>
            <a:r>
              <a:rPr dirty="0"/>
              <a:t>• Which cities and genres show stronger expansion potential?</a:t>
            </a:r>
          </a:p>
        </p:txBody>
      </p:sp>
      <p:sp>
        <p:nvSpPr>
          <p:cNvPr id="9" name="Rectangle 8"/>
          <p:cNvSpPr/>
          <p:nvPr/>
        </p:nvSpPr>
        <p:spPr>
          <a:xfrm>
            <a:off x="7757159" y="1554480"/>
            <a:ext cx="4069080" cy="4526280"/>
          </a:xfrm>
          <a:prstGeom prst="rect">
            <a:avLst/>
          </a:prstGeom>
          <a:solidFill>
            <a:srgbClr val="0E1D31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0" y="1811004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 dirty="0">
                <a:solidFill>
                  <a:srgbClr val="46CDFF"/>
                </a:solidFill>
                <a:latin typeface="Aptos"/>
              </a:rPr>
              <a:t>Key stakeholders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2185121"/>
            <a:ext cx="32004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Festival organizers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Marketing &amp; audience teams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Sponsorship / revenue teams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Artist &amp; event programming teams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City expansion / business strategy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797A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"/>
              </a:rPr>
              <a:t>2. Dataset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914400" cy="41148"/>
          </a:xfrm>
          <a:prstGeom prst="rect">
            <a:avLst/>
          </a:prstGeom>
          <a:solidFill>
            <a:srgbClr val="1C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BECADA"/>
                </a:solidFill>
                <a:latin typeface="Aptos"/>
              </a:rPr>
              <a:t>Two datasets were combined to build one analytical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5440680" cy="4389120"/>
          </a:xfrm>
          <a:prstGeom prst="rect">
            <a:avLst/>
          </a:prstGeom>
          <a:solidFill>
            <a:srgbClr val="121F35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6634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1C91EB"/>
                </a:solidFill>
                <a:latin typeface="Aptos"/>
              </a:rPr>
              <a:t>Festival Attendance &amp;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6634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Festival, city, date and headlining artist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Ticket price and total attendance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Merchandise sales and sponsorship revenue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66360"/>
            <a:ext cx="4572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50BE82"/>
                </a:solidFill>
                <a:latin typeface="Aptos"/>
              </a:rPr>
              <a:t>100 unique festival records after duplicate removal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5303520" cy="4389120"/>
          </a:xfrm>
          <a:prstGeom prst="rect">
            <a:avLst/>
          </a:prstGeom>
          <a:solidFill>
            <a:srgbClr val="0E1D31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783080"/>
            <a:ext cx="45720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46CDFF"/>
                </a:solidFill>
                <a:latin typeface="Aptos"/>
              </a:rPr>
              <a:t>Artist Popularity &amp;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86000"/>
            <a:ext cx="45720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Artist and genre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Average ticket price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Average attendance per city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Social media followers &amp; streaming plays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Merchandise revenue per concert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5166360"/>
            <a:ext cx="4572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50BE82"/>
                </a:solidFill>
                <a:latin typeface="Aptos"/>
              </a:rPr>
              <a:t>10 artist records used for artist-level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797A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"/>
              </a:rPr>
              <a:t>3. Excel — Data Cleaning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914400" cy="41148"/>
          </a:xfrm>
          <a:prstGeom prst="rect">
            <a:avLst/>
          </a:prstGeom>
          <a:solidFill>
            <a:srgbClr val="1C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BECADA"/>
                </a:solidFill>
                <a:latin typeface="Aptos"/>
              </a:rPr>
              <a:t>The analysis started with a clean, validated foundation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914400" cy="713232"/>
          </a:xfrm>
          <a:prstGeom prst="roundRect">
            <a:avLst/>
          </a:prstGeom>
          <a:solidFill>
            <a:srgbClr val="102A45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73351"/>
            <a:ext cx="914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46CD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54480"/>
            <a:ext cx="2103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50" b="1">
                <a:solidFill>
                  <a:srgbClr val="F5F8FC"/>
                </a:solidFill>
                <a:latin typeface="Aptos"/>
              </a:rPr>
              <a:t>Missing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37943"/>
            <a:ext cx="89611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BECADA"/>
                </a:solidFill>
                <a:latin typeface="Aptos"/>
              </a:rPr>
              <a:t>Handled blanks using overall or group-based averages where appropriate.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60320"/>
            <a:ext cx="914400" cy="713232"/>
          </a:xfrm>
          <a:prstGeom prst="roundRect">
            <a:avLst/>
          </a:prstGeom>
          <a:solidFill>
            <a:srgbClr val="102A45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914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46CD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06039"/>
            <a:ext cx="2103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50" b="1">
                <a:solidFill>
                  <a:srgbClr val="F5F8FC"/>
                </a:solidFill>
                <a:latin typeface="Aptos"/>
              </a:rPr>
              <a:t>Duplicates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89503"/>
            <a:ext cx="89611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BECADA"/>
                </a:solidFill>
                <a:latin typeface="Aptos"/>
              </a:rPr>
              <a:t>Removed 5 duplicate festival records; 100 unique records remained.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11879"/>
            <a:ext cx="914400" cy="713232"/>
          </a:xfrm>
          <a:prstGeom prst="roundRect">
            <a:avLst/>
          </a:prstGeom>
          <a:solidFill>
            <a:srgbClr val="102A45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776472"/>
            <a:ext cx="914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46CD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657599"/>
            <a:ext cx="2103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50" b="1">
                <a:solidFill>
                  <a:srgbClr val="F5F8FC"/>
                </a:solidFill>
                <a:latin typeface="Aptos"/>
              </a:rPr>
              <a:t>Outliers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41063"/>
            <a:ext cx="89611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BECADA"/>
                </a:solidFill>
                <a:latin typeface="Aptos"/>
              </a:rPr>
              <a:t>Used IQR checks to identify extreme values and retained genuine high-performing events.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63440"/>
            <a:ext cx="914400" cy="713232"/>
          </a:xfrm>
          <a:prstGeom prst="roundRect">
            <a:avLst/>
          </a:prstGeom>
          <a:solidFill>
            <a:srgbClr val="102A45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828031"/>
            <a:ext cx="9144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46CD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709159"/>
            <a:ext cx="2103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50" b="1">
                <a:solidFill>
                  <a:srgbClr val="F5F8FC"/>
                </a:solidFill>
                <a:latin typeface="Aptos"/>
              </a:rPr>
              <a:t>Consistency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992624"/>
            <a:ext cx="89611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BECADA"/>
                </a:solidFill>
                <a:latin typeface="Aptos"/>
              </a:rPr>
              <a:t>Checked naming consistency and prepared clean Power BI input sheets.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623560"/>
            <a:ext cx="10789920" cy="502920"/>
          </a:xfrm>
          <a:prstGeom prst="roundRect">
            <a:avLst/>
          </a:prstGeom>
          <a:solidFill>
            <a:srgbClr val="0C2135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5769864"/>
            <a:ext cx="1033272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1">
                <a:solidFill>
                  <a:srgbClr val="F5F8FC"/>
                </a:solidFill>
                <a:latin typeface="Aptos"/>
              </a:rPr>
              <a:t>Important: extreme revenue / merchandise values were investigated, not blindly deleted.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797A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"/>
              </a:rPr>
              <a:t>4. Excel — Case Study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914400" cy="41148"/>
          </a:xfrm>
          <a:prstGeom prst="rect">
            <a:avLst/>
          </a:prstGeom>
          <a:solidFill>
            <a:srgbClr val="1C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BECADA"/>
                </a:solidFill>
                <a:latin typeface="Aptos"/>
              </a:rPr>
              <a:t>Six stages converted the cleaned data into business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0" cy="502920"/>
          </a:xfrm>
          <a:prstGeom prst="rect">
            <a:avLst/>
          </a:prstGeom>
          <a:solidFill>
            <a:srgbClr val="133F63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664208"/>
            <a:ext cx="58521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"/>
              </a:rPr>
              <a:t>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508760"/>
            <a:ext cx="3108960" cy="502920"/>
          </a:xfrm>
          <a:prstGeom prst="rect">
            <a:avLst/>
          </a:prstGeom>
          <a:solidFill>
            <a:srgbClr val="133F63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81912" y="1664208"/>
            <a:ext cx="29626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"/>
              </a:rPr>
              <a:t>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508760"/>
            <a:ext cx="6400800" cy="502920"/>
          </a:xfrm>
          <a:prstGeom prst="rect">
            <a:avLst/>
          </a:prstGeom>
          <a:solidFill>
            <a:srgbClr val="133F63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28032" y="1664208"/>
            <a:ext cx="625449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"/>
              </a:rPr>
              <a:t>Output / decision support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057400"/>
            <a:ext cx="731520" cy="521207"/>
          </a:xfrm>
          <a:prstGeom prst="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2167128"/>
            <a:ext cx="58521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80" b="1">
                <a:solidFill>
                  <a:srgbClr val="F5F8FC"/>
                </a:solidFill>
                <a:latin typeface="Aptos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2057400"/>
            <a:ext cx="3108960" cy="521207"/>
          </a:xfrm>
          <a:prstGeom prst="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81912" y="2167128"/>
            <a:ext cx="296265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80" b="0">
                <a:solidFill>
                  <a:srgbClr val="F5F8FC"/>
                </a:solidFill>
                <a:latin typeface="Aptos"/>
              </a:rPr>
              <a:t>Data Cleaning &amp; 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057400"/>
            <a:ext cx="6400800" cy="521207"/>
          </a:xfrm>
          <a:prstGeom prst="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28032" y="2167128"/>
            <a:ext cx="625449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80" b="0">
                <a:solidFill>
                  <a:srgbClr val="F5F8FC"/>
                </a:solidFill>
                <a:latin typeface="Aptos"/>
              </a:rPr>
              <a:t>Reliable dataset for downstream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70048"/>
            <a:ext cx="731520" cy="521207"/>
          </a:xfrm>
          <a:prstGeom prst="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2779776"/>
            <a:ext cx="58521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80" b="0">
                <a:solidFill>
                  <a:srgbClr val="BECADA"/>
                </a:solidFill>
                <a:latin typeface="Aptos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2670048"/>
            <a:ext cx="3108960" cy="521207"/>
          </a:xfrm>
          <a:prstGeom prst="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81912" y="2779776"/>
            <a:ext cx="296265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80" b="0">
                <a:solidFill>
                  <a:srgbClr val="BECADA"/>
                </a:solidFill>
                <a:latin typeface="Aptos"/>
              </a:rPr>
              <a:t>Attendance Trends &amp; Revenue Growth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670048"/>
            <a:ext cx="6400800" cy="521207"/>
          </a:xfrm>
          <a:prstGeom prst="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8032" y="2779776"/>
            <a:ext cx="625449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80" b="0">
                <a:solidFill>
                  <a:srgbClr val="BECADA"/>
                </a:solidFill>
                <a:latin typeface="Aptos"/>
              </a:rPr>
              <a:t>Peak month, top cities, local vs international attendance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282696"/>
            <a:ext cx="731520" cy="521207"/>
          </a:xfrm>
          <a:prstGeom prst="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3392424"/>
            <a:ext cx="58521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80" b="0">
                <a:solidFill>
                  <a:srgbClr val="F5F8FC"/>
                </a:solidFill>
                <a:latin typeface="Aptos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3282696"/>
            <a:ext cx="3108960" cy="521207"/>
          </a:xfrm>
          <a:prstGeom prst="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81912" y="3392424"/>
            <a:ext cx="296265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80" b="0">
                <a:solidFill>
                  <a:srgbClr val="F5F8FC"/>
                </a:solidFill>
                <a:latin typeface="Aptos"/>
              </a:rPr>
              <a:t>Ticket Pricing Optimization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3282696"/>
            <a:ext cx="6400800" cy="521207"/>
          </a:xfrm>
          <a:prstGeom prst="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28032" y="3392424"/>
            <a:ext cx="625449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80" b="0">
                <a:solidFill>
                  <a:srgbClr val="F5F8FC"/>
                </a:solidFill>
                <a:latin typeface="Aptos"/>
              </a:rPr>
              <a:t>Price-range attendance, revenue and price variation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895344"/>
            <a:ext cx="731520" cy="521207"/>
          </a:xfrm>
          <a:prstGeom prst="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2" y="4005072"/>
            <a:ext cx="58521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80" b="0">
                <a:solidFill>
                  <a:srgbClr val="BECADA"/>
                </a:solidFill>
                <a:latin typeface="Aptos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08760" y="3895344"/>
            <a:ext cx="3108960" cy="521207"/>
          </a:xfrm>
          <a:prstGeom prst="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81912" y="4005072"/>
            <a:ext cx="296265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80" b="0">
                <a:solidFill>
                  <a:srgbClr val="BECADA"/>
                </a:solidFill>
                <a:latin typeface="Aptos"/>
              </a:rPr>
              <a:t>Artist Impact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3895344"/>
            <a:ext cx="6400800" cy="521207"/>
          </a:xfrm>
          <a:prstGeom prst="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28032" y="4005072"/>
            <a:ext cx="625449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80" b="0">
                <a:solidFill>
                  <a:srgbClr val="BECADA"/>
                </a:solidFill>
                <a:latin typeface="Aptos"/>
              </a:rPr>
              <a:t>Artist attendance influence, genre mix, performance proxy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507992"/>
            <a:ext cx="731520" cy="521207"/>
          </a:xfrm>
          <a:prstGeom prst="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" y="4617720"/>
            <a:ext cx="58521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80" b="0">
                <a:solidFill>
                  <a:srgbClr val="F5F8FC"/>
                </a:solidFill>
                <a:latin typeface="Aptos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08760" y="4507992"/>
            <a:ext cx="3108960" cy="521207"/>
          </a:xfrm>
          <a:prstGeom prst="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581912" y="4617720"/>
            <a:ext cx="296265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80" b="0">
                <a:solidFill>
                  <a:srgbClr val="F5F8FC"/>
                </a:solidFill>
                <a:latin typeface="Aptos"/>
              </a:rPr>
              <a:t>Sponsorship &amp; Merchandise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4507992"/>
            <a:ext cx="6400800" cy="521207"/>
          </a:xfrm>
          <a:prstGeom prst="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28032" y="4617720"/>
            <a:ext cx="625449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80" b="0">
                <a:solidFill>
                  <a:srgbClr val="F5F8FC"/>
                </a:solidFill>
                <a:latin typeface="Aptos"/>
              </a:rPr>
              <a:t>Sponsorship by price range; merchandise contribution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5120640"/>
            <a:ext cx="731520" cy="521207"/>
          </a:xfrm>
          <a:prstGeom prst="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8952" y="5230368"/>
            <a:ext cx="58521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80" b="0">
                <a:solidFill>
                  <a:srgbClr val="BECADA"/>
                </a:solidFill>
                <a:latin typeface="Aptos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08760" y="5120640"/>
            <a:ext cx="3108960" cy="521207"/>
          </a:xfrm>
          <a:prstGeom prst="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581912" y="5230368"/>
            <a:ext cx="296265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80" b="0">
                <a:solidFill>
                  <a:srgbClr val="BECADA"/>
                </a:solidFill>
                <a:latin typeface="Aptos"/>
              </a:rPr>
              <a:t>Regional Preferences &amp; Expansion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5120640"/>
            <a:ext cx="6400800" cy="521207"/>
          </a:xfrm>
          <a:prstGeom prst="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28032" y="5230368"/>
            <a:ext cx="6254496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80" b="0">
                <a:solidFill>
                  <a:srgbClr val="BECADA"/>
                </a:solidFill>
                <a:latin typeface="Aptos"/>
              </a:rPr>
              <a:t>City demand, genre preference, revenue per attendee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797A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"/>
              </a:rPr>
              <a:t>5. Excel — Analysis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914400" cy="41148"/>
          </a:xfrm>
          <a:prstGeom prst="rect">
            <a:avLst/>
          </a:prstGeom>
          <a:solidFill>
            <a:srgbClr val="1C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BECADA"/>
                </a:solidFill>
                <a:latin typeface="Aptos"/>
              </a:rPr>
              <a:t>Examples of the workbook outputs used before building the Power BI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566160" cy="4526280"/>
          </a:xfrm>
          <a:prstGeom prst="rect">
            <a:avLst/>
          </a:prstGeom>
          <a:solidFill>
            <a:srgbClr val="121F35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31089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C91EB"/>
                </a:solidFill>
                <a:latin typeface="Aptos"/>
              </a:rPr>
              <a:t>Stage 2 — Monthly 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1280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8797AC"/>
                </a:solidFill>
                <a:latin typeface="Aptos"/>
              </a:rPr>
              <a:t>Peak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21945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400" b="1">
                <a:solidFill>
                  <a:srgbClr val="F5F8FC"/>
                </a:solidFill>
                <a:latin typeface="Aptos"/>
              </a:rPr>
              <a:t>August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99232"/>
            <a:ext cx="25603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46CDFF"/>
                </a:solidFill>
                <a:latin typeface="Aptos"/>
              </a:rPr>
              <a:t>288,400.9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20116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BECADA"/>
                </a:solidFill>
                <a:latin typeface="Aptos"/>
              </a:rPr>
              <a:t>total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27432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BECADA"/>
                </a:solidFill>
                <a:latin typeface="Aptos"/>
              </a:rPr>
              <a:t>Formula-driven monthly summary + chart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417320"/>
            <a:ext cx="3566160" cy="4526280"/>
          </a:xfrm>
          <a:prstGeom prst="rect">
            <a:avLst/>
          </a:prstGeom>
          <a:solidFill>
            <a:srgbClr val="0E1D31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691640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46CDFF"/>
                </a:solidFill>
                <a:latin typeface="Aptos"/>
              </a:rPr>
              <a:t>Stage 3 —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40280"/>
            <a:ext cx="1417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"/>
              </a:rPr>
              <a:t>₹0–1,500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240280"/>
            <a:ext cx="1645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BECADA"/>
                </a:solidFill>
                <a:latin typeface="Aptos"/>
              </a:rPr>
              <a:t>26,158.99 avg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53512"/>
            <a:ext cx="1417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"/>
              </a:rPr>
              <a:t>₹1,501–3,000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953512"/>
            <a:ext cx="1645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BECADA"/>
                </a:solidFill>
                <a:latin typeface="Aptos"/>
              </a:rPr>
              <a:t>55.79M avg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666744"/>
            <a:ext cx="1417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"/>
              </a:rPr>
              <a:t>₹3,001–4,500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666744"/>
            <a:ext cx="1645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BECADA"/>
                </a:solidFill>
                <a:latin typeface="Aptos"/>
              </a:rPr>
              <a:t>88.96M avg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379976"/>
            <a:ext cx="1417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"/>
              </a:rPr>
              <a:t>₹4,500+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379976"/>
            <a:ext cx="1645920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BECADA"/>
                </a:solidFill>
                <a:latin typeface="Aptos"/>
              </a:rPr>
              <a:t>99.37M avg revenue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7575" y="1417320"/>
            <a:ext cx="3529584" cy="4526280"/>
          </a:xfrm>
          <a:prstGeom prst="rect">
            <a:avLst/>
          </a:prstGeom>
          <a:solidFill>
            <a:srgbClr val="121F35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1691640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1C91EB"/>
                </a:solidFill>
                <a:latin typeface="Aptos"/>
              </a:rPr>
              <a:t>Stage 6 — City Economics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240280"/>
            <a:ext cx="1508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"/>
              </a:rPr>
              <a:t>Bengaluru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240280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50" b="1">
                <a:solidFill>
                  <a:srgbClr val="46CDFF"/>
                </a:solidFill>
                <a:latin typeface="Aptos"/>
              </a:rPr>
              <a:t>₹4,202.93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807208"/>
            <a:ext cx="1508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"/>
              </a:rPr>
              <a:t>Kolkata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807208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50" b="1">
                <a:solidFill>
                  <a:srgbClr val="46CDFF"/>
                </a:solidFill>
                <a:latin typeface="Aptos"/>
              </a:rPr>
              <a:t>₹4,099.16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374136"/>
            <a:ext cx="1508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"/>
              </a:rPr>
              <a:t>Pune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3374136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50" b="1">
                <a:solidFill>
                  <a:srgbClr val="46CDFF"/>
                </a:solidFill>
                <a:latin typeface="Aptos"/>
              </a:rPr>
              <a:t>₹3,867.31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941064"/>
            <a:ext cx="1508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"/>
              </a:rPr>
              <a:t>Nagpur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941064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50" b="1">
                <a:solidFill>
                  <a:srgbClr val="46CDFF"/>
                </a:solidFill>
                <a:latin typeface="Aptos"/>
              </a:rPr>
              <a:t>₹3,405.29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507992"/>
            <a:ext cx="1508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F5F8FC"/>
                </a:solidFill>
                <a:latin typeface="Aptos"/>
              </a:rPr>
              <a:t>Delhi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450799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50" b="1">
                <a:solidFill>
                  <a:srgbClr val="46CDFF"/>
                </a:solidFill>
                <a:latin typeface="Aptos"/>
              </a:rPr>
              <a:t>₹3,341.95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5230368"/>
            <a:ext cx="21945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BECADA"/>
                </a:solidFill>
                <a:latin typeface="Aptos"/>
              </a:rPr>
              <a:t>Revenue per attendee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797A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"/>
              </a:rPr>
              <a:t>6. Power BI — Interactive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914400" cy="41148"/>
          </a:xfrm>
          <a:prstGeom prst="rect">
            <a:avLst/>
          </a:prstGeom>
          <a:solidFill>
            <a:srgbClr val="1C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BECADA"/>
                </a:solidFill>
                <a:latin typeface="Aptos"/>
              </a:rPr>
              <a:t>Excel outputs were transformed into a single decision-ready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797AC"/>
                </a:solidFill>
                <a:latin typeface="Aptos"/>
              </a:rPr>
              <a:t>07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C2E929-A934-BC21-1BCE-313E61F43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416" y="1426984"/>
            <a:ext cx="10021168" cy="52481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"/>
              </a:rPr>
              <a:t>7. 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914400" cy="41148"/>
          </a:xfrm>
          <a:prstGeom prst="rect">
            <a:avLst/>
          </a:prstGeom>
          <a:solidFill>
            <a:srgbClr val="1C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BECADA"/>
                </a:solidFill>
                <a:latin typeface="Aptos"/>
              </a:rPr>
              <a:t>What the analysis tells a festival decision-maker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691640" cy="868680"/>
          </a:xfrm>
          <a:prstGeom prst="round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536192"/>
            <a:ext cx="1362456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2.14M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47672"/>
            <a:ext cx="13624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BECADA"/>
                </a:solidFill>
                <a:latin typeface="Aptos"/>
              </a:rPr>
              <a:t>Total attendance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1417320"/>
            <a:ext cx="1691640" cy="868680"/>
          </a:xfrm>
          <a:prstGeom prst="round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06624" y="1536192"/>
            <a:ext cx="1362456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₹6.9bn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6624" y="1947672"/>
            <a:ext cx="13624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BECADA"/>
                </a:solidFill>
                <a:latin typeface="Aptos"/>
              </a:rPr>
              <a:t>Total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417320"/>
            <a:ext cx="1691640" cy="868680"/>
          </a:xfrm>
          <a:prstGeom prst="round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5" y="1536192"/>
            <a:ext cx="1362456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₹3.25K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5" y="1947672"/>
            <a:ext cx="13624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BECADA"/>
                </a:solidFill>
                <a:latin typeface="Aptos"/>
              </a:rPr>
              <a:t>Revenue / attendee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417320"/>
            <a:ext cx="1691640" cy="868680"/>
          </a:xfrm>
          <a:prstGeom prst="round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1536192"/>
            <a:ext cx="1362456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72.9%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947672"/>
            <a:ext cx="13624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BECADA"/>
                </a:solidFill>
                <a:latin typeface="Aptos"/>
              </a:rPr>
              <a:t>Local headliner attendance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0727" y="1417320"/>
            <a:ext cx="1691640" cy="868680"/>
          </a:xfrm>
          <a:prstGeom prst="round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19" y="1536192"/>
            <a:ext cx="1362456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August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1947672"/>
            <a:ext cx="136245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BECADA"/>
                </a:solidFill>
                <a:latin typeface="Aptos"/>
              </a:rPr>
              <a:t>Peak month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66960" y="1417320"/>
            <a:ext cx="1600200" cy="868680"/>
          </a:xfrm>
          <a:prstGeom prst="roundRect">
            <a:avLst/>
          </a:prstGeom>
          <a:solidFill>
            <a:srgbClr val="0D1B2F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31552" y="1536192"/>
            <a:ext cx="1271016" cy="34747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₹4,202.93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31552" y="1947672"/>
            <a:ext cx="1271016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BECADA"/>
                </a:solidFill>
                <a:latin typeface="Aptos"/>
              </a:rPr>
              <a:t>Bengaluru rev/attendee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2651760"/>
            <a:ext cx="10881360" cy="484632"/>
          </a:xfrm>
          <a:prstGeom prst="roundRect">
            <a:avLst/>
          </a:prstGeom>
          <a:solidFill>
            <a:srgbClr val="0D1D31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2779776"/>
            <a:ext cx="3200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6CDFF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2743200"/>
            <a:ext cx="99669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F5F8FC"/>
                </a:solidFill>
                <a:latin typeface="Aptos"/>
              </a:rPr>
              <a:t>Goa has the highest total festival attendance.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291839"/>
            <a:ext cx="10881360" cy="484632"/>
          </a:xfrm>
          <a:prstGeom prst="roundRect">
            <a:avLst/>
          </a:prstGeom>
          <a:solidFill>
            <a:srgbClr val="0D1D31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3419856"/>
            <a:ext cx="3200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6CDFF"/>
                </a:solidFill>
                <a:latin typeface="Apto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3383279"/>
            <a:ext cx="99669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F5F8FC"/>
                </a:solidFill>
                <a:latin typeface="Aptos"/>
              </a:rPr>
              <a:t>August is the peak month for festival attendance.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931920"/>
            <a:ext cx="10881360" cy="484632"/>
          </a:xfrm>
          <a:prstGeom prst="roundRect">
            <a:avLst/>
          </a:prstGeom>
          <a:solidFill>
            <a:srgbClr val="0D1D31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059935"/>
            <a:ext cx="3200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6CDFF"/>
                </a:solidFill>
                <a:latin typeface="Apto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4023359"/>
            <a:ext cx="99669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F5F8FC"/>
                </a:solidFill>
                <a:latin typeface="Aptos"/>
              </a:rPr>
              <a:t>Bollywood has the highest attendance among the major genres.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572000"/>
            <a:ext cx="10881360" cy="484632"/>
          </a:xfrm>
          <a:prstGeom prst="roundRect">
            <a:avLst/>
          </a:prstGeom>
          <a:solidFill>
            <a:srgbClr val="0D1D31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4700016"/>
            <a:ext cx="3200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6CDFF"/>
                </a:solidFill>
                <a:latin typeface="Aptos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4663440"/>
            <a:ext cx="99669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F5F8FC"/>
                </a:solidFill>
                <a:latin typeface="Aptos"/>
              </a:rPr>
              <a:t>Local headliners contributed 72.9% of total attendance.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212079"/>
            <a:ext cx="10881360" cy="484632"/>
          </a:xfrm>
          <a:prstGeom prst="roundRect">
            <a:avLst/>
          </a:prstGeom>
          <a:solidFill>
            <a:srgbClr val="0D1D31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340095"/>
            <a:ext cx="32004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6CDFF"/>
                </a:solidFill>
                <a:latin typeface="Aptos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5303519"/>
            <a:ext cx="99669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20" b="0">
                <a:solidFill>
                  <a:srgbClr val="F5F8FC"/>
                </a:solidFill>
                <a:latin typeface="Aptos"/>
              </a:rPr>
              <a:t>Bengaluru has the highest revenue per attendee at ₹4,202.93.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797AC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292440" cy="47705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 dirty="0">
                <a:solidFill>
                  <a:srgbClr val="F5F8FC"/>
                </a:solidFill>
                <a:latin typeface="Aptos"/>
              </a:rPr>
              <a:t>8.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914400" cy="41148"/>
          </a:xfrm>
          <a:prstGeom prst="rect">
            <a:avLst/>
          </a:prstGeom>
          <a:solidFill>
            <a:srgbClr val="1C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BECADA"/>
                </a:solidFill>
                <a:latin typeface="Aptos"/>
              </a:rPr>
              <a:t>Actions grounded in the observed dataset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29408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 dirty="0">
                <a:solidFill>
                  <a:srgbClr val="46CD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08760"/>
            <a:ext cx="2103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Demand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481328"/>
            <a:ext cx="7818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80" b="0">
                <a:solidFill>
                  <a:srgbClr val="BECADA"/>
                </a:solidFill>
                <a:latin typeface="Aptos"/>
              </a:rPr>
              <a:t>Use August as a benchmark peak period and plan capacity, marketing and inventory accordingly.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02407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 dirty="0">
                <a:solidFill>
                  <a:srgbClr val="46CD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23160"/>
            <a:ext cx="2103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City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395728"/>
            <a:ext cx="7818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80" b="0">
                <a:solidFill>
                  <a:srgbClr val="BECADA"/>
                </a:solidFill>
                <a:latin typeface="Aptos"/>
              </a:rPr>
              <a:t>Prioritize high-attendance markets such as Goa, Jaipur and Nagpur; use Bengaluru, Kolkata and Pune for revenue-focused expansion.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337560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 dirty="0">
                <a:solidFill>
                  <a:srgbClr val="46CD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337560"/>
            <a:ext cx="2103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Artist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310128"/>
            <a:ext cx="7818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80" b="0">
                <a:solidFill>
                  <a:srgbClr val="BECADA"/>
                </a:solidFill>
                <a:latin typeface="Aptos"/>
              </a:rPr>
              <a:t>Continue leveraging strong local headliners for attendance, while using international artists selectively to diversify the lineup.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31207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 dirty="0">
                <a:solidFill>
                  <a:srgbClr val="46CDFF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251960"/>
            <a:ext cx="2103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4224528"/>
            <a:ext cx="7818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80" b="0">
                <a:solidFill>
                  <a:srgbClr val="BECADA"/>
                </a:solidFill>
                <a:latin typeface="Aptos"/>
              </a:rPr>
              <a:t>Use balanced, city-specific pricing. The ₹4,500+ range generated the highest average revenue per festival, while lower prices supported higher average attendance.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55983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 dirty="0">
                <a:solidFill>
                  <a:srgbClr val="46CDFF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166360"/>
            <a:ext cx="2103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Revenue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5138928"/>
            <a:ext cx="78181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80" b="0">
                <a:solidFill>
                  <a:srgbClr val="BECADA"/>
                </a:solidFill>
                <a:latin typeface="Aptos"/>
              </a:rPr>
              <a:t>Strengthen sponsorship and merchandise strategies, especially where their contribution is already meaningful.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80760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80" b="0">
                <a:solidFill>
                  <a:srgbClr val="8797AC"/>
                </a:solidFill>
                <a:latin typeface="Aptos"/>
              </a:rPr>
              <a:t>Note: the dataset does not include artist booking costs or explicit ticket tiers, so ROI and tier-level conclusions are not claimed.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797AC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"/>
              </a:rPr>
              <a:t>9. Project 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914400" cy="41148"/>
          </a:xfrm>
          <a:prstGeom prst="rect">
            <a:avLst/>
          </a:prstGeom>
          <a:solidFill>
            <a:srgbClr val="1C9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60704"/>
            <a:ext cx="10972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BECADA"/>
                </a:solidFill>
                <a:latin typeface="Aptos"/>
              </a:rPr>
              <a:t>A complete Excel + Power BI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10835640" cy="1097280"/>
          </a:xfrm>
          <a:prstGeom prst="roundRect">
            <a:avLst/>
          </a:prstGeom>
          <a:solidFill>
            <a:srgbClr val="0D1F34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10287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Raw Data → Clean &amp; Validate → Analyze in Excel → Model in Power BI → Visualize → Recommend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71800"/>
            <a:ext cx="3291840" cy="1508760"/>
          </a:xfrm>
          <a:prstGeom prst="roundRect">
            <a:avLst/>
          </a:prstGeom>
          <a:solidFill>
            <a:srgbClr val="0E1D31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264408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1C91EB"/>
                </a:solidFill>
                <a:latin typeface="Aptos"/>
              </a:rPr>
              <a:t>Excel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28346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0">
                <a:solidFill>
                  <a:srgbClr val="BECADA"/>
                </a:solidFill>
                <a:latin typeface="Aptos"/>
              </a:rPr>
              <a:t>Cleaning • formulas • case-study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971800"/>
            <a:ext cx="3291840" cy="1508760"/>
          </a:xfrm>
          <a:prstGeom prst="roundRect">
            <a:avLst/>
          </a:prstGeom>
          <a:solidFill>
            <a:srgbClr val="0E1D31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3264408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46CDFF"/>
                </a:solidFill>
                <a:latin typeface="Aptos"/>
              </a:rPr>
              <a:t>Power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794760"/>
            <a:ext cx="28346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0">
                <a:solidFill>
                  <a:srgbClr val="BECADA"/>
                </a:solidFill>
                <a:latin typeface="Aptos"/>
              </a:rPr>
              <a:t>Data model • DAX • interactive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971800"/>
            <a:ext cx="3291840" cy="1508760"/>
          </a:xfrm>
          <a:prstGeom prst="roundRect">
            <a:avLst/>
          </a:prstGeom>
          <a:solidFill>
            <a:srgbClr val="0E1D31"/>
          </a:solidFill>
          <a:ln>
            <a:solidFill>
              <a:srgbClr val="20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3264408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46CDFF"/>
                </a:solidFill>
                <a:latin typeface="Aptos"/>
              </a:rPr>
              <a:t>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794760"/>
            <a:ext cx="28346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50" b="0">
                <a:solidFill>
                  <a:srgbClr val="BECADA"/>
                </a:solidFill>
                <a:latin typeface="Aptos"/>
              </a:rPr>
              <a:t>Insights • recommendations • decision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74920"/>
            <a:ext cx="102412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The project demonstrates hands-on data cleaning, analysis, visualization and business communication.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897880"/>
            <a:ext cx="10241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8797AC"/>
                </a:solidFill>
                <a:latin typeface="Aptos"/>
              </a:rPr>
              <a:t>Music Festival Analysis | Excel + Power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797A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814</Words>
  <Application>Microsoft Office PowerPoint</Application>
  <PresentationFormat>Widescreen</PresentationFormat>
  <Paragraphs>168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Akash Das</cp:lastModifiedBy>
  <cp:revision>2</cp:revision>
  <dcterms:created xsi:type="dcterms:W3CDTF">2013-01-27T09:14:16Z</dcterms:created>
  <dcterms:modified xsi:type="dcterms:W3CDTF">2026-10-07T08:26:46Z</dcterms:modified>
  <cp:category/>
</cp:coreProperties>
</file>